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минута.,Начать с короткого позиционирования: SkillFlow — учебная платформа для создания, модерации и прохождения тестов.,Сразу обозначить, что защита строится не вокруг экранов интерфейса, а вокруг конструирования ПО: архитектуры, паттернов, транзакций и тестов.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минуты.,Сформулировать рамку: проект нужно оценивать по двум линиям — как продукт и как пример конструирования программного обеспечения.,Подчеркнуть три доказательства: сценарии работают, каналы не дублируют логику, паттерны связаны с реальными проблемами.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минуты.,Объяснить роли. Студент создает и проходит тесты, преподаватель модерирует только свои дисциплины, бот действует как внешний клиент.,Главная граница ответственности: ни web, ни Telegram-бот не хранят доменную логику и не ходят в базу напрямую.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минуты.,Пройти по цепочке сверху вниз: студент создает тест, вопросы собираются через Builder/Factory, статус меняется через State Machine, преподаватель публикует, студент проходит, затем Visitor считает результат, Strategy рейтинг, EventBus реакции.,Это основной сквозной сценарий, к которому можно возвращаться на следующих слайдах.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минуты.,Пояснить, что проект не является набором отдельных классов: есть web, API, бот, БД, worker, миграции и тесты.,Сделать акцент на том, что монорепозиторий выбран ради простоты запуска, а архитектурные границы сохранены внутри app, bot, tests и alembic.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минуты.,Показать слои: presentation clients, API layer, service layer, data access и database.,Отдельно отметить EventBus и worker как механизм побочных реакций. Это не ломает слоистость: основная логика остается в сервисах, а события только расширяют сценарий.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минуты.,Пояснить основные сущности: пользователи, дисциплины, тесты, вопросы, попытки, ответы, рейтинги и достижения.,Отметить, что часть целостности проверяется не только сервисом, но и базой: уникальные email и telegram_id, уникальный рейтинг на студента и дисциплину, уникальные достижения.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минуты.,Разобрать три сценария. Важно не углубляться в интерфейс, а показать, где лежат бизнес-правила.,Отдельно проговорить: роутеры тонкие, они не считают рейтинг и не проверяют все варианты ответов вручную. Это делает поведение единым для всех клиентов.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минуты.,Здесь удобно дать общий ответ на вопрос «зачем столько паттернов». Не перечислять определения, а связать их с потоком обработки.,DTO защищает контракт, Builder и Factory создают сложный объект, Repository и Unit of Work сохраняют согласованно, State Machine контролирует статусы, Visitor и Strategy считают, EventBus и Adapter развязывают внешние реакции и Telegram.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минуты.,Раскрыть создание теста как первый доказательный пример. DTO валидирует внешний JSON. Builder собирает агрегат Test. Simple Factory выбирает конкретный тип вопроса по QuestionType.,Проговорить, что это именно Simple Factory: есть централизованный выбор класса по enum, без иерархии creator-классов.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минуты.,Второй доказательный пример — прохождение теста. Сервис проверяет роль, статус теста и retake-policy, валидирует payload, сохраняет попытку, считает баллы, выбирает стратегию рейтинга и публикует событие.,Важно подчеркнуть: роутер этого не делает, бот этого не делает. Все каналы приходят к одному use-case.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минуты.,Показать привязку аккаунта по временному коду. После привязки бот может получать тесты и отправлять попытки, но не имеет собственного доступа к базе.,Adapter скрывает URL, заголовки и JSON API от обработчиков бота; FSM хранит только состояние диалога, не доменные правила.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минуты.,Дать компактный обзор безопасности. Пароли хранятся через bcrypt, web использует JWT, Telegram проходит через trust boundary.,Валидация многоуровневая: Pydantic отсекает плохую форму запроса, service layer проверяет бизнес-правила, база защищает уникальность и целостность при гонках.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минуты.,Рассказать, что тесты покрывают полный API lifecycle и отдельные доменные правила. Результат локальной проверки: 34 passed.,Честно отметить предупреждения анализаторов как дорожную карту, а не блокер работоспособности.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минуты.,Этот слайд нужен для организационной части защиты. Объяснить, что распределение не по областям разработки, а по паттернам.,Каждый участник может показать минимум два паттерна, конкретные файлы и рабочий сценарий применения.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минута.,Закончить с выводом: проект показывает одновременно продуктовый сценарий и осознанное применение паттернов проектирования.,Подчеркнуть, что дальнейшее развитие уже предусмотрено архитектурой: новые уведомления добавляются подписчиками, новые формулы рейтинга — стратегиями, новые типы вопросов — фабрикой и visitor-логикой.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5E66"/>
          </a:solidFill>
          <a:ln w="12700">
            <a:solidFill>
              <a:srgbClr val="155E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8132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SkillFlow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94944" y="224028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обучающая платформа с Telegram-ботом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48006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работа по дисциплине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«Конструирование программного обеспечения»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0" y="1755648"/>
            <a:ext cx="822960" cy="384048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C8DC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098280" y="1947672"/>
            <a:ext cx="548640" cy="0"/>
          </a:xfrm>
          <a:prstGeom prst="line">
            <a:avLst/>
          </a:prstGeom>
          <a:noFill/>
          <a:ln w="1397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710928" y="1755648"/>
            <a:ext cx="868680" cy="384048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C8DC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625328" y="1947672"/>
            <a:ext cx="530352" cy="0"/>
          </a:xfrm>
          <a:prstGeom prst="line">
            <a:avLst/>
          </a:prstGeom>
          <a:noFill/>
          <a:ln w="1397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1219688" y="1755648"/>
            <a:ext cx="749808" cy="384048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C8DC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+ архитектурные паттерны + автотесты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СГТУ • кафедра ИКСП •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ВЫСТУПЛЕНИЯ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доказывает проект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защите важно показать не только функциональность, но и инженерную обоснованность решений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993392"/>
            <a:ext cx="530352" cy="530352"/>
          </a:xfrm>
          <a:prstGeom prst="ellipse">
            <a:avLst/>
          </a:prstGeom>
          <a:solidFill>
            <a:srgbClr val="155E66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4752" y="1901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MVP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44752" y="2331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регистрация, тесты, модерация, попытки, рейтинг, достижения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343400" y="1993392"/>
            <a:ext cx="530352" cy="530352"/>
          </a:xfrm>
          <a:prstGeom prst="ellipse">
            <a:avLst/>
          </a:prstGeom>
          <a:solidFill>
            <a:srgbClr val="155E66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56632" y="1901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логика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56632" y="2331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и Telegram используют один backend-контракт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55280" y="1993392"/>
            <a:ext cx="530352" cy="530352"/>
          </a:xfrm>
          <a:prstGeom prst="ellipse">
            <a:avLst/>
          </a:prstGeom>
          <a:solidFill>
            <a:srgbClr val="155E66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68512" y="1901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Паттерны в деле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68512" y="2331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подтверждаются файлами, тестами и рабочим сценарием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234440" y="4690872"/>
            <a:ext cx="9738360" cy="67665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E0E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тезис: паттерны не декоративные — они уменьшают связность и помогают расширять проект.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Предметная область и роли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SkillFlow организует взаимное тестирование в учебной среде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2743200"/>
            <a:ext cx="1463040" cy="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79792" y="2743200"/>
            <a:ext cx="1435608" cy="-77724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79792" y="2743200"/>
            <a:ext cx="1435608" cy="96012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7240" y="2084832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96112" y="36118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создает тесты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проходит опубликованные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получает рейтинг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2176272"/>
            <a:ext cx="2743200" cy="1143000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SkillFlow API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10912" y="345643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единые бизнес-правила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42832" y="1298448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25712" y="25328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модерирует тесты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своим дисциплинам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942832" y="3456432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25712" y="4690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клиент API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доступа к БД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54880" y="4187952"/>
            <a:ext cx="777240" cy="310896"/>
          </a:xfrm>
          <a:prstGeom prst="roundRect">
            <a:avLst/>
          </a:prstGeom>
          <a:solidFill>
            <a:srgbClr val="EEF5F1"/>
          </a:solidFill>
          <a:ln w="6350">
            <a:solidFill>
              <a:srgbClr val="D1E7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50992" y="4187952"/>
            <a:ext cx="1508760" cy="310896"/>
          </a:xfrm>
          <a:prstGeom prst="roundRect">
            <a:avLst/>
          </a:prstGeom>
          <a:solidFill>
            <a:srgbClr val="F6F3EA"/>
          </a:solidFill>
          <a:ln w="6350">
            <a:solidFill>
              <a:srgbClr val="E9DEC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56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сценарий защиты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поток демонстрирует почти все основные паттерны проекта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13432" y="3154680"/>
            <a:ext cx="61264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87952" y="3154680"/>
            <a:ext cx="61264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62472" y="3154680"/>
            <a:ext cx="61264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36992" y="3154680"/>
            <a:ext cx="61264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811512" y="3154680"/>
            <a:ext cx="61264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51560" y="2834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" y="3675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тест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8368" y="41422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+ DTO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0" y="2834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87752" y="3675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вопросы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532888" y="41422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+ Factory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2834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62272" y="3675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Отправить на модерацию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407408" y="41422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2834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36792" y="3675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Опубликовать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81928" y="41422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+ RBAC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49640" y="2834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11312" y="3675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Пройти тест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156448" y="41422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 + Strategy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424160" y="2834640"/>
            <a:ext cx="640080" cy="640080"/>
          </a:xfrm>
          <a:prstGeom prst="ellipse">
            <a:avLst/>
          </a:prstGeom>
          <a:solidFill>
            <a:srgbClr val="155E66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5832" y="3675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Обновить реакции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0030968" y="41422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EventBus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51560" y="5166360"/>
            <a:ext cx="10058400" cy="59436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E2E8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 сценария: от входного JSON до рейтинга и уведомлений — без дублирования правил между web и Telegram.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системы и технологический стек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Монорепозиторий, но с четкими границами runtime-контекстов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2011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57600" y="165506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HTML/CSS/ES modules · aiogram bot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2103120"/>
            <a:ext cx="0" cy="210312"/>
          </a:xfrm>
          <a:prstGeom prst="line">
            <a:avLst/>
          </a:prstGeom>
          <a:noFill/>
          <a:ln w="10160">
            <a:solidFill>
              <a:srgbClr val="D9E0E3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05840" y="2313432"/>
            <a:ext cx="2011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57600" y="23682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Pydantic · JWT · bcrypt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11680" y="2816352"/>
            <a:ext cx="0" cy="210312"/>
          </a:xfrm>
          <a:prstGeom prst="line">
            <a:avLst/>
          </a:prstGeom>
          <a:noFill/>
          <a:ln w="10160">
            <a:solidFill>
              <a:srgbClr val="D9E0E3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005840" y="3026664"/>
            <a:ext cx="2011680" cy="475488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layer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30815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TestService · AuthService · AchievementService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011680" y="3529584"/>
            <a:ext cx="0" cy="210312"/>
          </a:xfrm>
          <a:prstGeom prst="line">
            <a:avLst/>
          </a:prstGeom>
          <a:noFill/>
          <a:ln w="10160">
            <a:solidFill>
              <a:srgbClr val="D9E0E3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005840" y="3739896"/>
            <a:ext cx="2011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Data/infra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657600" y="3794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· PostgreSQL/SQLite · Alembic · Redis/arq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011680" y="4242816"/>
            <a:ext cx="0" cy="210312"/>
          </a:xfrm>
          <a:prstGeom prst="line">
            <a:avLst/>
          </a:prstGeom>
          <a:noFill/>
          <a:ln w="10160">
            <a:solidFill>
              <a:srgbClr val="D9E0E3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005840" y="4453128"/>
            <a:ext cx="2011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657600" y="45079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· node --check · Docker Compose · CI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5623560"/>
            <a:ext cx="1600200" cy="310896"/>
          </a:xfrm>
          <a:prstGeom prst="roundRect">
            <a:avLst/>
          </a:prstGeom>
          <a:solidFill>
            <a:srgbClr val="F7F9FA"/>
          </a:solidFill>
          <a:ln w="6350">
            <a:solidFill>
              <a:srgbClr val="E1E8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Python-файлов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5623560"/>
            <a:ext cx="1325880" cy="310896"/>
          </a:xfrm>
          <a:prstGeom prst="roundRect">
            <a:avLst/>
          </a:prstGeom>
          <a:solidFill>
            <a:srgbClr val="F7F9FA"/>
          </a:solidFill>
          <a:ln w="6350">
            <a:solidFill>
              <a:srgbClr val="E1E8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JS-файлов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43400" y="5623560"/>
            <a:ext cx="1234440" cy="310896"/>
          </a:xfrm>
          <a:prstGeom prst="roundRect">
            <a:avLst/>
          </a:prstGeom>
          <a:solidFill>
            <a:srgbClr val="F7F9FA"/>
          </a:solidFill>
          <a:ln w="6350">
            <a:solidFill>
              <a:srgbClr val="E1E8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миграции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60720" y="5623560"/>
            <a:ext cx="1097280" cy="310896"/>
          </a:xfrm>
          <a:prstGeom prst="roundRect">
            <a:avLst/>
          </a:prstGeom>
          <a:solidFill>
            <a:srgbClr val="EEF5F1"/>
          </a:solidFill>
          <a:ln w="6350">
            <a:solidFill>
              <a:srgbClr val="D1E7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теста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Слоистая архитектура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и интеграции не дублируют бизнес-логику — они обращаются к одному API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76272" y="2057400"/>
            <a:ext cx="97840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76272" y="3913632"/>
            <a:ext cx="978408" cy="-1152144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92040" y="2414016"/>
            <a:ext cx="914400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18120" y="2414016"/>
            <a:ext cx="731520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058400" y="2414016"/>
            <a:ext cx="65836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3081528"/>
            <a:ext cx="0" cy="77724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78040" y="4160520"/>
            <a:ext cx="1554480" cy="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893808" y="4160520"/>
            <a:ext cx="914400" cy="-41148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85800" y="1536192"/>
            <a:ext cx="1481328" cy="1033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383280"/>
            <a:ext cx="1481328" cy="1033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aiogram FSM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1874520"/>
            <a:ext cx="1737360" cy="1078992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 + deps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1874520"/>
            <a:ext cx="2011680" cy="1078992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B8D9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TestService/AuthService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49640" y="1874520"/>
            <a:ext cx="1508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16768" y="1874520"/>
            <a:ext cx="10515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БД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72200" y="3822192"/>
            <a:ext cx="1280160" cy="685800"/>
          </a:xfrm>
          <a:prstGeom prst="roundRect">
            <a:avLst/>
          </a:prstGeom>
          <a:solidFill>
            <a:srgbClr val="F4ECF7"/>
          </a:solidFill>
          <a:ln w="12700">
            <a:solidFill>
              <a:srgbClr val="DCC8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3822192"/>
            <a:ext cx="1207008" cy="68580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E8D9B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 worker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69880" y="3401568"/>
            <a:ext cx="137160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данных: ядро домена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Сущности отражают учебный сценарий и усиливаются ограничениями БД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2423160"/>
            <a:ext cx="1097280" cy="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2423160"/>
            <a:ext cx="1005840" cy="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37960" y="2423160"/>
            <a:ext cx="914400" cy="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11880" y="2926080"/>
            <a:ext cx="0" cy="86868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3400" y="4069080"/>
            <a:ext cx="1005840" cy="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600200" y="2926080"/>
            <a:ext cx="0" cy="86868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57400" y="4069080"/>
            <a:ext cx="1005840" cy="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40480" y="4572000"/>
            <a:ext cx="0" cy="73152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5577840"/>
            <a:ext cx="3017520" cy="-50292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60120" y="2057400"/>
            <a:ext cx="1097280" cy="731520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154680" y="2057400"/>
            <a:ext cx="1188720" cy="731520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49240" y="2057400"/>
            <a:ext cx="1188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52360" y="2057400"/>
            <a:ext cx="14173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AnswerOption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63240" y="3703320"/>
            <a:ext cx="1188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3703320"/>
            <a:ext cx="11887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12801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TestAttempt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63240" y="525780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UserAnswer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52360" y="47091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81160" y="2057400"/>
            <a:ext cx="2148840" cy="199339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E2E8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ограничения</a:t>
            </a:r>
            <a:endParaRPr lang="en-US" sz="1380" dirty="0"/>
          </a:p>
          <a:p>
            <a:pPr algn="ctr" indent="0" marL="0">
              <a:buNone/>
            </a:pP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unique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telegram_id unique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rating(student, subject)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unique</a:t>
            </a:r>
            <a:endParaRPr lang="en-US" sz="13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бизнес-сценариев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размещены в service layer, поэтому одинаковы для web и Telegram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теста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176272"/>
            <a:ext cx="292608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только STUDENT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DTO валидирует вход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Builder собирает Test + вопросы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статус DRAFT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2628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26280" y="2176272"/>
            <a:ext cx="292608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395728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только TEACHER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только свои дисциплины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 → PUBLISHED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reject требует комментарий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2960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Прохождение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29600" y="2176272"/>
            <a:ext cx="292608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395728"/>
            <a:ext cx="2971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только опубликованный тест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полный payload ответов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retake через allow_retake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рейтинг через delta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71600" y="5248656"/>
            <a:ext cx="9509760" cy="594360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D0E4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Тонкие роутеры: принять DTO → вызвать сервис → commit / rollback → вернуть serializer-response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Паттерны в одном рабочем потоке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Паттерны не изолированы — они образуют цепочку обработки сценария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21992" y="2798064"/>
            <a:ext cx="61264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96512" y="2798064"/>
            <a:ext cx="61264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71032" y="2798064"/>
            <a:ext cx="61264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45552" y="2798064"/>
            <a:ext cx="61264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720072" y="2798064"/>
            <a:ext cx="612648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" y="2377440"/>
            <a:ext cx="126187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Входной контракт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86968" y="3063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377440"/>
            <a:ext cx="1261872" cy="475488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теста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61488" y="3063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Factory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377440"/>
            <a:ext cx="126187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36008" y="3063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377440"/>
            <a:ext cx="1261872" cy="475488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10528" y="3063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2377440"/>
            <a:ext cx="126187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85048" y="3063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332720" y="2377440"/>
            <a:ext cx="1261872" cy="475488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Реакции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259568" y="3063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Observer/EventBus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 цепочки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46120" y="4736592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паттерн закрывает конкретную точку сложности: формат входа, создание агрегата, транзакцию, переходы статуса, оценивание, побочные реакции и Telegram-интеграцию.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теста: DTO + Builder + Simple Factory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Сложный агрегат Test собирается в одном месте, а типы вопросов локализованы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2788920"/>
            <a:ext cx="1417320" cy="0"/>
          </a:xfrm>
          <a:prstGeom prst="line">
            <a:avLst/>
          </a:prstGeom>
          <a:noFill/>
          <a:ln w="14605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23560" y="2788920"/>
            <a:ext cx="1417320" cy="0"/>
          </a:xfrm>
          <a:prstGeom prst="line">
            <a:avLst/>
          </a:prstGeom>
          <a:noFill/>
          <a:ln w="14605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78240" y="2788920"/>
            <a:ext cx="1143000" cy="0"/>
          </a:xfrm>
          <a:prstGeom prst="line">
            <a:avLst/>
          </a:prstGeom>
          <a:noFill/>
          <a:ln w="14605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2240280"/>
            <a:ext cx="1554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TestCreate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DTO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886200" y="2240280"/>
            <a:ext cx="1737360" cy="1097280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TestBuilder.build()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0" y="224028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QuestionFactory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create()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921240" y="2240280"/>
            <a:ext cx="1325880" cy="109728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B8D9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+ Questions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max_score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3986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решается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46120" y="3941064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вопросы имеют разные payload-структуры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 теста есть агрегатные поля: question_count и max_score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сервис не знает конструкторы всех типов вопросов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1463040" cy="310896"/>
          </a:xfrm>
          <a:prstGeom prst="roundRect">
            <a:avLst/>
          </a:prstGeom>
          <a:solidFill>
            <a:srgbClr val="F7F9FA"/>
          </a:solidFill>
          <a:ln w="6350">
            <a:solidFill>
              <a:srgbClr val="E1E8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app/schemas.py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5669280"/>
            <a:ext cx="2286000" cy="310896"/>
          </a:xfrm>
          <a:prstGeom prst="roundRect">
            <a:avLst/>
          </a:prstGeom>
          <a:solidFill>
            <a:srgbClr val="F7F9FA"/>
          </a:solidFill>
          <a:ln w="6350">
            <a:solidFill>
              <a:srgbClr val="E1E8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app/services/test_builder.py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5669280"/>
            <a:ext cx="2560320" cy="310896"/>
          </a:xfrm>
          <a:prstGeom prst="roundRect">
            <a:avLst/>
          </a:prstGeom>
          <a:solidFill>
            <a:srgbClr val="F7F9FA"/>
          </a:solidFill>
          <a:ln w="6350">
            <a:solidFill>
              <a:srgbClr val="E1E8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app/services/question_factory.py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Прохождение теста: Facade + Visitor + Strategy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метод take_test координирует проверку, оценивание и рейтинг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36592" y="2578608"/>
            <a:ext cx="-621792" cy="-73152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36592" y="3054096"/>
            <a:ext cx="-621792" cy="786384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62672" y="2578608"/>
            <a:ext cx="1481328" cy="-731520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62672" y="3054096"/>
            <a:ext cx="1481328" cy="786384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736592" y="2331720"/>
            <a:ext cx="2926080" cy="960120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TestService.take_test()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011680" y="1417320"/>
            <a:ext cx="2057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get_full / locked attempt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011680" y="3429000"/>
            <a:ext cx="2057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Work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/ rollback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0" y="1417320"/>
            <a:ext cx="2057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ScoringVisitor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типа вопросов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0" y="3429000"/>
            <a:ext cx="2057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RatingStrategy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/ bonus / standard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88920" y="5074920"/>
            <a:ext cx="6766560" cy="658368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E2E8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EventBus.publish(TEST_COMPLETED) → рейтинг, достижения, уведомления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Telegram-интеграция без дублирования логики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— внешний клиент API, а не второй backend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2560320"/>
            <a:ext cx="1463040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0640" y="2560320"/>
            <a:ext cx="1280160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46720" y="2560320"/>
            <a:ext cx="1280160" cy="0"/>
          </a:xfrm>
          <a:prstGeom prst="line">
            <a:avLst/>
          </a:prstGeom>
          <a:noFill/>
          <a:ln w="12700">
            <a:solidFill>
              <a:srgbClr val="155E6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223760" y="3127248"/>
            <a:ext cx="0" cy="850392"/>
          </a:xfrm>
          <a:prstGeom prst="line">
            <a:avLst/>
          </a:prstGeom>
          <a:noFill/>
          <a:ln w="12700">
            <a:solidFill>
              <a:srgbClr val="BAC7C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" y="2011680"/>
            <a:ext cx="1645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account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генерирует код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1645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/link &lt;код&gt;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Telegram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1645920" cy="1097280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TelegramAdapter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httpx + headers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0" y="2011680"/>
            <a:ext cx="1645920" cy="1097280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B8D9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44768" y="3977640"/>
            <a:ext cx="21762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FSM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/ confirm_retake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9377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6-значный link-code с TTL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X-Bot-Token / X-Service-Token как trust boundary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нет прямого доступа бота к SQLAlchemy Session</a:t>
            </a:r>
            <a:endParaRPr lang="en-US" sz="15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retake и рейтинг проверяются backend-ом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качество данных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строится в несколько слоев: DTO, service rules, авторизация и ограничения БД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97480" y="1563624"/>
            <a:ext cx="6629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DTO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пароль, role-specific поля, question payload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1417320" cy="502920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Use-case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697480" y="2523744"/>
            <a:ext cx="6629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RBAC, статус теста, retake-policy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697480" y="3483864"/>
            <a:ext cx="6629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trust boundary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C7C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97480" y="4443984"/>
            <a:ext cx="6629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constraints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email, rating, achievements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738360" y="1828800"/>
            <a:ext cx="1828800" cy="269748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E2E8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важно</a:t>
            </a:r>
            <a:endParaRPr lang="en-US" sz="1380" dirty="0"/>
          </a:p>
          <a:p>
            <a:pPr algn="ctr" indent="0" marL="0">
              <a:buNone/>
            </a:pP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Некорректный payload не доходит до подсчета; роль нельзя обойти через другой клиент; частичные изменения откатываются.</a:t>
            </a:r>
            <a:endParaRPr lang="en-US" sz="13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работоспособности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подтвержден автоматическими проверками и миграциями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1188720" cy="438912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D0E4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compile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760720" y="17556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68880"/>
            <a:ext cx="1188720" cy="438912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D0E4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1460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migrations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760720" y="25328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head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246120"/>
            <a:ext cx="1188720" cy="438912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D0E4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146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syntax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760720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--check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023360"/>
            <a:ext cx="1188720" cy="438912"/>
          </a:xfrm>
          <a:prstGeom prst="roundRect">
            <a:avLst/>
          </a:prstGeom>
          <a:solidFill>
            <a:srgbClr val="EEF5F1"/>
          </a:solidFill>
          <a:ln w="12700">
            <a:solidFill>
              <a:srgbClr val="B8D9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6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passed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51460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Unit/API tests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760720" y="40873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-q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0" y="1691640"/>
            <a:ext cx="2423160" cy="26060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E2E8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долг</a:t>
            </a:r>
            <a:endParaRPr lang="en-US" sz="1420" dirty="0"/>
          </a:p>
          <a:p>
            <a:pPr algn="ctr" indent="0" marL="0">
              <a:buNone/>
            </a:pP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Config → ConfigDict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on_event → lifespan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datetime.utcnow → aware datetime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960120" y="5166360"/>
            <a:ext cx="10332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Покрываются не только утилиты: lifecycle теста, retake-policy, модерация, validation ошибок, rating repository, EventBus и Telegram link-code.</a:t>
            </a:r>
            <a:endParaRPr lang="en-US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защиты по паттернам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защиты построен по инженерным решениям, а не по backend/frontend/DevOps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Ерыкалин Петр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301752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95728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Repository</a:t>
            </a:r>
            <a:endParaRPr lang="en-US" sz="152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Layer / Facade</a:t>
            </a:r>
            <a:endParaRPr lang="en-US" sz="152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 of Work</a:t>
            </a:r>
            <a:endParaRPr lang="en-US" sz="152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Machine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4572000" y="1691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Зиновьев Илья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0" y="2148840"/>
            <a:ext cx="301752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395728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DTO</a:t>
            </a:r>
            <a:endParaRPr lang="en-US" sz="152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Mapper / Serializer</a:t>
            </a:r>
            <a:endParaRPr lang="en-US" sz="152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Visitor</a:t>
            </a:r>
            <a:endParaRPr lang="en-US" sz="152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Builder / Factory / Strategy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8275320" y="1691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Сергеев Илья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75320" y="2148840"/>
            <a:ext cx="3017520" cy="0"/>
          </a:xfrm>
          <a:prstGeom prst="line">
            <a:avLst/>
          </a:prstGeom>
          <a:noFill/>
          <a:ln w="12700">
            <a:solidFill>
              <a:srgbClr val="D5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395728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Adapter</a:t>
            </a:r>
            <a:endParaRPr lang="en-US" sz="152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Dependency Injection</a:t>
            </a:r>
            <a:endParaRPr lang="en-US" sz="152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Observer / EventBus</a:t>
            </a:r>
            <a:endParaRPr lang="en-US" sz="152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2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Module Singleton / Middleware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1234440" y="5257800"/>
            <a:ext cx="9784080" cy="585216"/>
          </a:xfrm>
          <a:prstGeom prst="roundRect">
            <a:avLst/>
          </a:prstGeom>
          <a:solidFill>
            <a:srgbClr val="EAF3F4"/>
          </a:solidFill>
          <a:ln w="12700">
            <a:solidFill>
              <a:srgbClr val="D0E4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Командные паттерны: Layered Architecture · Ports &amp; Adapters · Front Controller · Event-driven flow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10160">
            <a:solidFill>
              <a:srgbClr val="D7DE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56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и направления развития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9418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SkillFlow — рабочий учебный MVP, где паттерны подтверждаются кодом и тестами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Пояснительная записка SkillFlow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5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4754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работает полный сценарий создания, модерации и прохождения тестов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и Telegram используют общий backend-контракт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паттерны уменьшают связность и упрощают расширение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работоспособность подтверждена автотестами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691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4754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редактирование и версионирование опубликованных тестов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более гибкое оценивание текстовых ответов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email/push как новые EventBus-подписчики</a:t>
            </a:r>
            <a:endParaRPr lang="en-US" sz="1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метрики, audit-log, rate limiting, refresh-токены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5257800"/>
            <a:ext cx="9784080" cy="676656"/>
          </a:xfrm>
          <a:prstGeom prst="roundRect">
            <a:avLst/>
          </a:prstGeom>
          <a:solidFill>
            <a:srgbClr val="155E66"/>
          </a:solidFill>
          <a:ln w="12700">
            <a:solidFill>
              <a:srgbClr val="15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тезис: это не набор искусственных примеров, а программный продукт, где архитектурные решения встроены в production-flow.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SSTU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SkillFlow - обучающая платформа с Telegram-ботом</dc:title>
  <dc:subject>SkillFlow presentation</dc:subject>
  <dc:creator>OpenAI</dc:creator>
  <cp:lastModifiedBy>OpenAI</cp:lastModifiedBy>
  <cp:revision>1</cp:revision>
  <dcterms:created xsi:type="dcterms:W3CDTF">2026-05-21T19:24:25Z</dcterms:created>
  <dcterms:modified xsi:type="dcterms:W3CDTF">2026-05-21T19:24:25Z</dcterms:modified>
</cp:coreProperties>
</file>